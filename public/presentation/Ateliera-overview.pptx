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한강변의 화실, 그리고 나만의 재료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Ateliera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그림을 그리고 · 공간을 걷고 · 재료를 고르는 3D 아틀리에</a:t>
            </a:r>
          </a:p>
        </p:txBody>
      </p:sp>
      <p:pic>
        <p:nvPicPr>
          <p:cNvPr id="5" name="Picture 4" descr="studio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644" y="2423160"/>
            <a:ext cx="6291072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560320"/>
            <a:ext cx="3977639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D9B577"/>
                </a:solidFill>
                <a:latin typeface="Noto Sans CJK KR"/>
              </a:defRPr>
            </a:pPr>
            <a:r>
              <a:t>창작</a:t>
            </a:r>
          </a:p>
          <a:p>
            <a:pPr>
              <a:spcAft>
                <a:spcPts val="800"/>
              </a:spcAft>
              <a:defRPr sz="3400" b="1">
                <a:solidFill>
                  <a:srgbClr val="D9B577"/>
                </a:solidFill>
                <a:latin typeface="Noto Sans CJK KR"/>
              </a:defRPr>
            </a:pPr>
            <a:r>
              <a:t>탐색</a:t>
            </a:r>
          </a:p>
          <a:p>
            <a:pPr>
              <a:spcAft>
                <a:spcPts val="800"/>
              </a:spcAft>
              <a:defRPr sz="3400" b="1">
                <a:solidFill>
                  <a:srgbClr val="D9B577"/>
                </a:solidFill>
                <a:latin typeface="Noto Sans CJK KR"/>
              </a:defRPr>
            </a:pPr>
            <a:r>
              <a:t>재료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7492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5EEDD"/>
                </a:solidFill>
                <a:latin typeface="Noto Sans CJK KR"/>
              </a:defRPr>
            </a:pPr>
            <a:r>
              <a:t>브라우저에서 만나는 서울의 작업실</a:t>
            </a:r>
          </a:p>
          <a:p>
            <a:pPr>
              <a:spcAft>
                <a:spcPts val="800"/>
              </a:spcAft>
              <a:defRPr sz="1800" b="0">
                <a:solidFill>
                  <a:srgbClr val="F5EEDD"/>
                </a:solidFill>
                <a:latin typeface="Noto Sans CJK KR"/>
              </a:defRPr>
            </a:pPr>
            <a:r>
              <a:t>창작과 공간 탐색을 하나의 흐름으로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CREATE · EXPLORE · 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컨셉: 창작이 머무는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서울의 한강 풍경을 배경으로, 그림 작업과 재료 선택을 연결합니다.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87782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06624"/>
            <a:ext cx="105613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창작 | 재료마다 다른 붓결과 실제 3D 입체 붓질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67328"/>
            <a:ext cx="11064240" cy="87782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13632"/>
            <a:ext cx="105613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탐색 | 낮과 밤이 바뀌는 화실을 직접 걸어 둘러보기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74336"/>
            <a:ext cx="11064240" cy="87782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613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선택 | 진열된 용품을 살펴보고 나의 장바구니에 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DIGITAL PAINTING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그림의 질감부터 입체 붓질까지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수채·물감·연필·목탄·스프레이의 재료 차이를 표현합니다.</a:t>
            </a:r>
          </a:p>
        </p:txBody>
      </p:sp>
      <p:pic>
        <p:nvPicPr>
          <p:cNvPr id="5" name="Picture 4" descr="brush-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417" y="2423160"/>
            <a:ext cx="1638604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51460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수채: 맑은 번짐과 안료가 모이는 가장자리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3136392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물감: 불투명한 색과 두께감 있는 2D 붓결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758184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연필·목탄: 미세한 흑연 결과 거친 가루 입자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379976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에어브러시: 가장자리까지 옅어지는 미세 분사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5001768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3D 입체: 튜브 형태의 실제 메쉬와 네온 발광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62356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펜 · 필압/기울기 반응 · 사용자 색상 · 네온 6종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RIVERSIDE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서울 한강변, 낮과 밤의 화실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통창 너머 풍경과 따뜻한 원목 공간이 작업의 분위기를 만듭니다.</a:t>
            </a:r>
          </a:p>
        </p:txBody>
      </p:sp>
      <p:pic>
        <p:nvPicPr>
          <p:cNvPr id="5" name="Picture 4" descr="studio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23160"/>
            <a:ext cx="5340096" cy="3337560"/>
          </a:xfrm>
          <a:prstGeom prst="rect">
            <a:avLst/>
          </a:prstGeom>
        </p:spPr>
      </p:pic>
      <p:pic>
        <p:nvPicPr>
          <p:cNvPr id="6" name="Picture 5" descr="studio-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423160"/>
            <a:ext cx="5340096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247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5EEDD"/>
                </a:solidFill>
                <a:latin typeface="Noto Sans CJK KR"/>
              </a:defRPr>
            </a:pPr>
            <a:r>
              <a:t>낮 / 밤 전환: 풍경, 조명, 강물 반사 변화 · 캔버스 선택: 정사각형 · 가로형 · 세로형 · 작은 정사각형 · 그림 비율을 유지하는 크기 변경 · 실행 취소/다시 실행 · 타임랩스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ART MATERIALS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왼쪽 문 너머의 미술용품실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원목 진열장에 재료를 세워 두고, 손이 닿는 공간을 구성했습니다.</a:t>
            </a:r>
          </a:p>
        </p:txBody>
      </p:sp>
      <p:pic>
        <p:nvPicPr>
          <p:cNvPr id="5" name="Picture 4" descr="materials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51460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실제 출입구와 열리는 문으로 화실과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3136392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WASD 이동 · 화면 드래그로 시선 회전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758184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벽·가구 충돌 검사와 터치 이동 버튼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379976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캔버스 · 수채화 종이 · 붓 · 물감 · 연필 · 목탄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5001768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물건과 이름표를 선택해 상품 상세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PERSONAL MATERIALS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살펴보고, 나의 장바구니에 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물건 위에 마우스를 올리면 안내와 담기 말풍선이 표시됩니다.</a:t>
            </a:r>
          </a:p>
        </p:txBody>
      </p:sp>
      <p:pic>
        <p:nvPicPr>
          <p:cNvPr id="5" name="Picture 4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51460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상품 상세: 이름과 재료 설명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3136392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Shift: 장바구니 열기 /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758184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용품 담기 · 수량 변경 · 개별 삭제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379976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새로고침 후에도 브라우저에 선택 목록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5001768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가격·외부 구매 연결은 보류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62356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— 실제 주문·결제가 아닌 재료 선택 체험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조작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키보드와 마우스, 모바일 화면 버튼으로 이동합니다.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50592"/>
            <a:ext cx="11064240" cy="45720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B577"/>
                </a:solidFill>
                <a:latin typeface="Noto Sans CJK KR"/>
              </a:defRPr>
            </a:pPr>
            <a:r>
              <a:t>WASD / 방향키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51460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앞·뒤·좌·우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53512"/>
            <a:ext cx="11064240" cy="457200"/>
          </a:xfrm>
          <a:prstGeom prst="rect">
            <a:avLst/>
          </a:prstGeom>
          <a:solidFill>
            <a:srgbClr val="172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B577"/>
                </a:solidFill>
                <a:latin typeface="Noto Sans CJK KR"/>
              </a:defRPr>
            </a:pPr>
            <a:r>
              <a:t>화면 드래그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01752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마우스 또는 터치로 시선 회전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56432"/>
            <a:ext cx="11064240" cy="45720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B577"/>
                </a:solidFill>
                <a:latin typeface="Noto Sans CJK KR"/>
              </a:defRPr>
            </a:pPr>
            <a:r>
              <a:t>물건 클릭 /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52044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상품 상세 보기 · 문 열기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9352"/>
            <a:ext cx="11064240" cy="457200"/>
          </a:xfrm>
          <a:prstGeom prst="rect">
            <a:avLst/>
          </a:prstGeom>
          <a:solidFill>
            <a:srgbClr val="172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B577"/>
                </a:solidFill>
                <a:latin typeface="Noto Sans CJK KR"/>
              </a:defRPr>
            </a:pPr>
            <a:r>
              <a:t>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402336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장바구니 열기 / 닫기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62272"/>
            <a:ext cx="11064240" cy="45720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B577"/>
                </a:solidFill>
                <a:latin typeface="Noto Sans CJK KR"/>
              </a:defRPr>
            </a:pPr>
            <a:r>
              <a:t>Esc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5262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창 닫기 / 이동 모드에서 그리기로 복귀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65192"/>
            <a:ext cx="11064240" cy="457200"/>
          </a:xfrm>
          <a:prstGeom prst="rect">
            <a:avLst/>
          </a:prstGeom>
          <a:solidFill>
            <a:srgbClr val="172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B577"/>
                </a:solidFill>
                <a:latin typeface="Noto Sans CJK KR"/>
              </a:defRPr>
            </a:pPr>
            <a:r>
              <a:t>화면 화살표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02920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누르고 있는 동안 이동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68112"/>
            <a:ext cx="11064240" cy="45720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B577"/>
                </a:solidFill>
                <a:latin typeface="Noto Sans CJK KR"/>
              </a:defRPr>
            </a:pPr>
            <a:r>
              <a:t>미술용품실 버튼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553212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EEDD"/>
                </a:solidFill>
                <a:latin typeface="Noto Sans CJK KR"/>
              </a:defRPr>
            </a:pPr>
            <a:r>
              <a:t>진열장 앞으로 바로 이동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작업과 탐색이 이어지는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그리기로 언제든 돌아올 수 있고, 선택한 재료는 남아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42032"/>
            <a:ext cx="11064240" cy="60350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60903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01 | 캔버스 크기와 낮·밤 분위기 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55263"/>
            <a:ext cx="11064240" cy="60350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74135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02 | 재료별 브러시와 입체 붓질로 작업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68496"/>
            <a:ext cx="11064240" cy="60350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8736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03 | 둘러보기 모드로 전환하고 왼쪽 문 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81727"/>
            <a:ext cx="11064240" cy="60350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00599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04 | 미술용품실에서 물건을 살펴보고 담기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94960"/>
            <a:ext cx="11064240" cy="603504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1383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EEDD"/>
                </a:solidFill>
                <a:latin typeface="Noto Sans CJK KR"/>
              </a:defRPr>
            </a:pPr>
            <a:r>
              <a:t>05 | 이젤로 복귀해 작업을 이어가고 작품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B577"/>
                </a:solidFill>
                <a:latin typeface="Noto Sans CJK KR"/>
              </a:defRPr>
            </a:pPr>
            <a:r>
              <a:t>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EEDD"/>
                </a:solidFill>
                <a:latin typeface="Noto Sans CJK KR"/>
              </a:defRPr>
            </a:pPr>
            <a:r>
              <a:t>현재 구현 범위와 다음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9C8BC"/>
                </a:solidFill>
                <a:latin typeface="Noto Sans CJK KR"/>
              </a:defRPr>
            </a:pPr>
            <a:r>
              <a:t>화실 창작과 재료 선택의 기본 경험을 구현했습니다.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59436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06624"/>
            <a:ext cx="105613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5EEDD"/>
                </a:solidFill>
                <a:latin typeface="Noto Sans CJK KR"/>
              </a:defRPr>
            </a:pPr>
            <a:r>
              <a:t>구현 완료 | 브러시·입체·네온, 낮/밤, 캔버스 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39"/>
            <a:ext cx="11064240" cy="59436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38144"/>
            <a:ext cx="105613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5EEDD"/>
                </a:solidFill>
                <a:latin typeface="Noto Sans CJK KR"/>
              </a:defRPr>
            </a:pPr>
            <a:r>
              <a:t>구현 완료 | 이동·문·진열장·상품 상세·장바구니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11064240" cy="59436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9664"/>
            <a:ext cx="105613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5EEDD"/>
                </a:solidFill>
                <a:latin typeface="Noto Sans CJK KR"/>
              </a:defRPr>
            </a:pPr>
            <a:r>
              <a:t>검증 완료 | 브라우저 플레이, 모바일 확인, 테스트 28개·빌드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54880"/>
            <a:ext cx="11064240" cy="59436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01184"/>
            <a:ext cx="105613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5EEDD"/>
                </a:solidFill>
                <a:latin typeface="Noto Sans CJK KR"/>
              </a:defRPr>
            </a:pPr>
            <a:r>
              <a:t>보류 | 실제 상품 가격과 외부 판매처 링크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solidFill>
            <a:srgbClr val="2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32704"/>
            <a:ext cx="105613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5EEDD"/>
                </a:solidFill>
                <a:latin typeface="Noto Sans CJK KR"/>
              </a:defRPr>
            </a:pPr>
            <a:r>
              <a:t>추후 범위 | 상품별 상세 데이터와 주문·결제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9C8BC"/>
                </a:solidFill>
                <a:latin typeface="Noto Sans CJK KR"/>
              </a:defRPr>
            </a:pPr>
            <a:r>
              <a:t>ATELIERA  /  서울 한강변 아틀리에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96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9B577"/>
                </a:solidFill>
                <a:latin typeface="Noto Sans CJK KR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